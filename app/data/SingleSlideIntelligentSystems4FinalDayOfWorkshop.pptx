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522" r:id="rId5"/>
    <p:sldId id="52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51" d="100"/>
          <a:sy n="51" d="100"/>
        </p:scale>
        <p:origin x="929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hogg" userId="254bae4f44a21055" providerId="LiveId" clId="{65CAA92A-841D-4224-A5DE-4D3E2ED637CD}"/>
    <pc:docChg chg="addSld">
      <pc:chgData name="Steve hogg" userId="254bae4f44a21055" providerId="LiveId" clId="{65CAA92A-841D-4224-A5DE-4D3E2ED637CD}" dt="2025-04-29T19:34:04.250" v="0" actId="2890"/>
      <pc:docMkLst>
        <pc:docMk/>
      </pc:docMkLst>
      <pc:sldChg chg="add">
        <pc:chgData name="Steve hogg" userId="254bae4f44a21055" providerId="LiveId" clId="{65CAA92A-841D-4224-A5DE-4D3E2ED637CD}" dt="2025-04-29T19:34:04.250" v="0" actId="2890"/>
        <pc:sldMkLst>
          <pc:docMk/>
          <pc:sldMk cId="723403706" sldId="52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FDE8F-115C-0065-98D0-2FEBD5E79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5DDE3-4EB0-C746-00BB-CACE141A7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066AA-BC60-EE65-A9ED-532015655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132E-72D4-4616-9BCD-ABF96D7FA53B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737A1-4B87-E730-503E-0DDFEDC9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F84E8-347D-8932-E1A4-75029B0D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5E1-E15D-43B4-8FB1-F4D3831698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988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2D115-E30A-AAB0-9C03-3238324D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8AA68-C6C1-F3A2-2ACE-D72974DC6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BC939-CD6B-D387-1F5D-F80B981D4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132E-72D4-4616-9BCD-ABF96D7FA53B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DEAB6-51DE-7204-3077-C861FA72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192EA-E478-1438-AE8A-A7B6029C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5E1-E15D-43B4-8FB1-F4D3831698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855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5E4A0-B7B4-51F3-41F0-A23E62A39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EFAD3-FEDD-FBF0-F6AD-939F24992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F1733-09C1-E950-D8F5-19B2BA1B0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132E-72D4-4616-9BCD-ABF96D7FA53B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9AE0C-5215-54B0-B75E-ED5807714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877AF-92A3-9F87-56A1-96319D71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5E1-E15D-43B4-8FB1-F4D3831698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1886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CCFE3-27C8-A94C-1E43-7B8AA3994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020C2-128B-03CE-F739-DA3AA802C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03E86-72FC-E6EB-26FA-9722B8DB2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5F3F1-E803-E851-06ED-27E6EA456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132E-72D4-4616-9BCD-ABF96D7FA53B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8D286-890F-76D6-274F-5078924B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DECFD-882F-9EBF-F5F9-6A9F35C9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5E1-E15D-43B4-8FB1-F4D3831698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092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09C58-F933-76C9-B0A7-16160BA2B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D868E-D6DB-D6EB-8B7E-AF84E08A6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B78B5-1B38-42ED-4D71-4BE3BE258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54F5-50BB-83CC-18B6-DC5180D6B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640B2D-A857-0370-26D1-0843193BF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7A94E5-1BDC-3616-53A3-F8FC1A73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132E-72D4-4616-9BCD-ABF96D7FA53B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38F67-3741-9BA8-6402-DECFDD29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53FCF5-8A0C-BE8A-D1AA-D9111EE7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5E1-E15D-43B4-8FB1-F4D3831698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881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6228-F8AC-0D6F-B683-742E2FDAB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F98A7-89B2-CDC7-3713-64D631F30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132E-72D4-4616-9BCD-ABF96D7FA53B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C221E7-B822-A272-20A7-B8CFC7712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9B0B4-96AA-7603-E023-CC3FF7A6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5E1-E15D-43B4-8FB1-F4D3831698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4293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123A1-2825-7E98-7E21-4B0E079DB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132E-72D4-4616-9BCD-ABF96D7FA53B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BC41C-9C54-DBD8-45F1-7D52ADDF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1AEAC-A207-E161-7FC2-AD58E305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5E1-E15D-43B4-8FB1-F4D3831698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048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4EB7-D126-A708-53A3-A87E27BFF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F037-D55E-E1BC-F2C1-B17346C77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AF30A-C64C-D4C4-AE95-383C03822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16604-A454-E10E-9F34-A902638D8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132E-72D4-4616-9BCD-ABF96D7FA53B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BB9AF-E687-AB96-F6DA-592A3B986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63CB2-B4FD-35F6-3A75-9F0FF518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5E1-E15D-43B4-8FB1-F4D3831698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70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C010D-A5DA-E1E6-A609-1DFFCD608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E81641-8E22-1874-E69C-BBCAD73AAA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DC258-DEC6-F367-C0DE-A0EBEF7E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9CFCB-B071-C23F-0D26-F958D7643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132E-72D4-4616-9BCD-ABF96D7FA53B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8CFA5-6808-91C3-52EB-CFC415678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46888-ED0C-B346-719F-9B796F58C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5E1-E15D-43B4-8FB1-F4D3831698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8837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EBDD-4045-C93C-1A21-61054527E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DB4DD-CAAF-C30C-D2E9-DAD01B25C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AF8B3-928C-6F65-1FDC-3BC26829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132E-72D4-4616-9BCD-ABF96D7FA53B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593BB-52DF-2C54-5153-22A611B60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300A7-608E-968D-00B1-6230DAF4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5E1-E15D-43B4-8FB1-F4D3831698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7841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7FC51C-BC2C-59FB-12FC-F01B1B869B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EDDA-599B-6C67-311C-82F9D85C2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5B28C-6241-C2D2-7E74-7886F021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132E-72D4-4616-9BCD-ABF96D7FA53B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0E1E9-4712-5389-49FD-2CFAF199B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C4518-CA8C-F612-FD8D-9FA5E00A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5E1-E15D-43B4-8FB1-F4D3831698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4877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lum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917904" y="0"/>
            <a:ext cx="827409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916" y="765522"/>
            <a:ext cx="2588893" cy="801310"/>
          </a:xfrm>
        </p:spPr>
        <p:txBody>
          <a:bodyPr wrap="square" lIns="0" tIns="46800" rIns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300" baseline="0">
                <a:latin typeface="Clancy" charset="0"/>
                <a:ea typeface="Clancy" charset="0"/>
                <a:cs typeface="Clancy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74916" y="1198493"/>
            <a:ext cx="2588893" cy="675121"/>
          </a:xfrm>
        </p:spPr>
        <p:txBody>
          <a:bodyPr lIns="0" tIns="46800" rIns="0">
            <a:spAutoFit/>
          </a:bodyPr>
          <a:lstStyle>
            <a:lvl1pPr marL="0" indent="0">
              <a:buNone/>
              <a:defRPr sz="2100" b="0" i="0"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>
              <a:buNone/>
              <a:defRPr sz="1700" b="0" i="0">
                <a:latin typeface="Roboto Light" charset="0"/>
                <a:ea typeface="Roboto Light" charset="0"/>
                <a:cs typeface="Roboto Light" charset="0"/>
              </a:defRPr>
            </a:lvl2pPr>
            <a:lvl3pPr marL="914400" indent="0">
              <a:buNone/>
              <a:defRPr sz="1700" b="0" i="0">
                <a:latin typeface="Roboto Light" charset="0"/>
                <a:ea typeface="Roboto Light" charset="0"/>
                <a:cs typeface="Roboto Light" charset="0"/>
              </a:defRPr>
            </a:lvl3pPr>
            <a:lvl4pPr marL="1371600" indent="0">
              <a:buNone/>
              <a:defRPr sz="1700" b="0" i="0">
                <a:latin typeface="Roboto Light" charset="0"/>
                <a:ea typeface="Roboto Light" charset="0"/>
                <a:cs typeface="Roboto Light" charset="0"/>
              </a:defRPr>
            </a:lvl4pPr>
            <a:lvl5pPr marL="1828800" indent="0">
              <a:buNone/>
              <a:defRPr sz="17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72001" y="2185481"/>
            <a:ext cx="7111092" cy="382084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700"/>
            </a:lvl3pPr>
            <a:lvl4pPr marL="1371600" indent="0">
              <a:buNone/>
              <a:defRPr sz="1700"/>
            </a:lvl4pPr>
            <a:lvl5pPr marL="1828800" indent="0">
              <a:buNone/>
              <a:defRPr sz="17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674916" y="2185481"/>
            <a:ext cx="2588893" cy="3833813"/>
          </a:xfrm>
        </p:spPr>
        <p:txBody>
          <a:bodyPr lIns="0" tIns="46800" rIns="0">
            <a:norm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700"/>
            </a:lvl3pPr>
            <a:lvl4pPr marL="1371600" indent="0">
              <a:buNone/>
              <a:defRPr sz="1700"/>
            </a:lvl4pPr>
            <a:lvl5pPr marL="1828800" indent="0">
              <a:buNone/>
              <a:defRPr sz="17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51038" y="6311900"/>
            <a:ext cx="266604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Mono" charset="0"/>
                <a:ea typeface="Roboto Mono" charset="0"/>
                <a:cs typeface="Roboto Mono" charset="0"/>
              </a:rPr>
              <a:t>unsw.edu.au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Mono" charset="0"/>
                <a:ea typeface="Roboto Mono" charset="0"/>
                <a:cs typeface="Roboto Mono" charset="0"/>
              </a:rPr>
              <a:t>/science</a:t>
            </a:r>
          </a:p>
        </p:txBody>
      </p:sp>
    </p:spTree>
    <p:extLst>
      <p:ext uri="{BB962C8B-B14F-4D97-AF65-F5344CB8AC3E}">
        <p14:creationId xmlns:p14="http://schemas.microsoft.com/office/powerpoint/2010/main" val="3543856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3EA122-BA60-4E45-E4F0-B17C61A6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4925B-E467-750B-07B8-ED57B7D5A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D268A-59CC-4D19-9811-55D0ECE42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B132E-72D4-4616-9BCD-ABF96D7FA53B}" type="datetimeFigureOut">
              <a:rPr lang="en-AU" smtClean="0"/>
              <a:t>30/04/2025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0D7BF-7375-56C3-AEC2-5AA93CD60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025DC-3120-D2DB-7C9E-76AB91653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CB5E1-E15D-43B4-8FB1-F4D3831698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975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616E-FDB6-39BD-42AD-CEEDCBBA4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55" y="572092"/>
            <a:ext cx="3715436" cy="2217082"/>
          </a:xfrm>
        </p:spPr>
        <p:txBody>
          <a:bodyPr/>
          <a:lstStyle/>
          <a:p>
            <a:pPr algn="ctr"/>
            <a:r>
              <a:rPr lang="en-AU" dirty="0"/>
              <a:t>Intelligent Systems</a:t>
            </a:r>
            <a:br>
              <a:rPr lang="en-AU" dirty="0"/>
            </a:br>
            <a:br>
              <a:rPr lang="en-AU" dirty="0"/>
            </a:br>
            <a:r>
              <a:rPr lang="en-AU" dirty="0"/>
              <a:t>&amp;</a:t>
            </a:r>
            <a:br>
              <a:rPr lang="en-AU" dirty="0"/>
            </a:br>
            <a:br>
              <a:rPr lang="en-AU" dirty="0"/>
            </a:br>
            <a:r>
              <a:rPr lang="en-AU" dirty="0"/>
              <a:t>Intelligent Systems for State &amp; Societal Resilience (ISSSR) Hub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2E36F-CF9E-52F3-0E52-1844B093BC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54750" y="314811"/>
            <a:ext cx="3462290" cy="6288212"/>
          </a:xfrm>
        </p:spPr>
        <p:txBody>
          <a:bodyPr>
            <a:normAutofit fontScale="6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b="1" dirty="0">
                <a:latin typeface="+mn-lt"/>
              </a:rPr>
              <a:t>Best Practice in IT Infrastructure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>
                <a:latin typeface="+mn-lt"/>
              </a:rPr>
              <a:t>Cyber Secure Infrastructure, Environments &amp; Comms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>
                <a:latin typeface="+mn-lt"/>
              </a:rPr>
              <a:t>Data Management – DBs, Warehouses, Cloud/Lakes/Oceans, Federation,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>
                <a:latin typeface="+mn-lt"/>
              </a:rPr>
              <a:t>Adaptive/User-Centric Design</a:t>
            </a:r>
          </a:p>
          <a:p>
            <a:endParaRPr lang="en-AU" sz="1800" dirty="0">
              <a:latin typeface="+mn-lt"/>
            </a:endParaRPr>
          </a:p>
          <a:p>
            <a:pPr algn="ctr"/>
            <a:r>
              <a:rPr lang="en-AU" sz="1800" dirty="0">
                <a:latin typeface="+mn-lt"/>
              </a:rPr>
              <a:t>PLUS</a:t>
            </a:r>
          </a:p>
          <a:p>
            <a:pPr algn="ctr"/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b="1" dirty="0">
                <a:latin typeface="+mn-lt"/>
              </a:rPr>
              <a:t>Productivity &amp; Insight 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>
                <a:latin typeface="+mn-lt"/>
              </a:rPr>
              <a:t>Decision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/>
              <a:t>GIS &amp; Visualisation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>
                <a:latin typeface="+mn-lt"/>
              </a:rPr>
              <a:t>Data Analytics &amp; Modelling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sz="2100" dirty="0">
              <a:latin typeface="+mn-lt"/>
            </a:endParaRPr>
          </a:p>
          <a:p>
            <a:pPr algn="ctr"/>
            <a:r>
              <a:rPr lang="en-AU" sz="1800" dirty="0">
                <a:latin typeface="+mn-lt"/>
              </a:rPr>
              <a:t>PLUS</a:t>
            </a:r>
          </a:p>
          <a:p>
            <a:pPr algn="ctr"/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b="1" dirty="0">
                <a:latin typeface="+mn-lt"/>
              </a:rPr>
              <a:t>Machine-Learning &amp; 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/>
              <a:t>Supervised/Unsupervised Learners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>
                <a:latin typeface="+mn-lt"/>
              </a:rPr>
              <a:t>Multi-Objective Optimisers &amp; Classifiers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/>
              <a:t>Large Language Models</a:t>
            </a:r>
            <a:endParaRPr lang="en-AU" sz="21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29E8AF5-4AA8-31B0-78C9-087F4A29A9FD}"/>
              </a:ext>
            </a:extLst>
          </p:cNvPr>
          <p:cNvSpPr txBox="1">
            <a:spLocks/>
          </p:cNvSpPr>
          <p:nvPr/>
        </p:nvSpPr>
        <p:spPr>
          <a:xfrm>
            <a:off x="8072700" y="1478832"/>
            <a:ext cx="4119300" cy="5291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latin typeface="+mn-lt"/>
              </a:rPr>
              <a:t>Nucleus of Software/Data Developers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200" dirty="0">
                <a:latin typeface="+mn-lt"/>
              </a:rPr>
              <a:t>Software Engineers/developers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200" dirty="0">
                <a:latin typeface="+mn-lt"/>
              </a:rPr>
              <a:t>Data Engineers/scientists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sz="1100" dirty="0">
              <a:latin typeface="+mn-lt"/>
            </a:endParaRPr>
          </a:p>
          <a:p>
            <a:pPr algn="ctr"/>
            <a:r>
              <a:rPr lang="en-AU" sz="1100" dirty="0">
                <a:latin typeface="+mn-lt"/>
              </a:rPr>
              <a:t>PLUS</a:t>
            </a:r>
          </a:p>
          <a:p>
            <a:pPr algn="ctr"/>
            <a:endParaRPr lang="en-AU" sz="11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latin typeface="+mn-lt"/>
              </a:rPr>
              <a:t>Wrapping of Innovation 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200" dirty="0">
                <a:latin typeface="+mn-lt"/>
              </a:rPr>
              <a:t>AI &amp; Machine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200" dirty="0">
                <a:latin typeface="+mn-lt"/>
              </a:rPr>
              <a:t>Data Analytics &amp; User Experience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sz="1100" dirty="0">
              <a:latin typeface="+mn-lt"/>
            </a:endParaRPr>
          </a:p>
          <a:p>
            <a:pPr algn="ctr"/>
            <a:r>
              <a:rPr lang="en-AU" sz="1100" dirty="0">
                <a:latin typeface="+mn-lt"/>
              </a:rPr>
              <a:t>PLUS</a:t>
            </a:r>
          </a:p>
          <a:p>
            <a:pPr algn="ctr"/>
            <a:endParaRPr lang="en-AU" sz="11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latin typeface="+mn-lt"/>
              </a:rPr>
              <a:t>Guided by Dev/Policy Expert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200" dirty="0">
                <a:latin typeface="+mn-lt"/>
              </a:rPr>
              <a:t>Subject Matter Experts</a:t>
            </a:r>
          </a:p>
          <a:p>
            <a:endParaRPr lang="en-AU" sz="105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latin typeface="+mn-lt"/>
              </a:rPr>
              <a:t>In Service to Partnering Organisation’s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05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latin typeface="+mn-lt"/>
              </a:rPr>
              <a:t>Adhering to UNSW’s</a:t>
            </a:r>
          </a:p>
          <a:p>
            <a:r>
              <a:rPr lang="en-AU" sz="1600" i="1" dirty="0">
                <a:latin typeface="+mn-lt"/>
              </a:rPr>
              <a:t>	“Progress for All”</a:t>
            </a:r>
            <a:endParaRPr lang="en-AU" sz="1200" i="1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pic>
        <p:nvPicPr>
          <p:cNvPr id="8" name="Picture 7" descr="A digital illustration of a machine&#10;&#10;AI-generated content may be incorrect.">
            <a:extLst>
              <a:ext uri="{FF2B5EF4-FFF2-40B4-BE49-F238E27FC236}">
                <a16:creationId xmlns:a16="http://schemas.microsoft.com/office/drawing/2014/main" id="{29FAA0F0-8299-9A6B-3AF1-E023E5626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9045"/>
            <a:ext cx="3938955" cy="3938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8AC11E-BA3F-AB0B-AE99-CD49B3AB3EA4}"/>
              </a:ext>
            </a:extLst>
          </p:cNvPr>
          <p:cNvSpPr txBox="1"/>
          <p:nvPr/>
        </p:nvSpPr>
        <p:spPr>
          <a:xfrm>
            <a:off x="4197838" y="324670"/>
            <a:ext cx="3190246" cy="1154162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1400" b="1" u="sng" dirty="0"/>
              <a:t>Intelligent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Integrated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Bespoke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User-centric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Smart/Supportive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APPROPRIATE</a:t>
            </a:r>
            <a:endParaRPr lang="en-AU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05682-E92D-8E19-527D-CB87B3A5D343}"/>
              </a:ext>
            </a:extLst>
          </p:cNvPr>
          <p:cNvSpPr txBox="1"/>
          <p:nvPr/>
        </p:nvSpPr>
        <p:spPr>
          <a:xfrm>
            <a:off x="8072700" y="314811"/>
            <a:ext cx="3190247" cy="1154162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1400" b="1" u="sng" dirty="0"/>
              <a:t>ISSSR 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Codesign &amp; localisation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Social Engagement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Networks 4 Collective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Partnership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Technology for Agency &amp; Empowerment</a:t>
            </a:r>
          </a:p>
        </p:txBody>
      </p:sp>
    </p:spTree>
    <p:extLst>
      <p:ext uri="{BB962C8B-B14F-4D97-AF65-F5344CB8AC3E}">
        <p14:creationId xmlns:p14="http://schemas.microsoft.com/office/powerpoint/2010/main" val="389416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0755-5B73-1B9C-8BA6-37650BEC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D775-3D30-B28D-332C-E9C3C897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55" y="572092"/>
            <a:ext cx="3715436" cy="2217082"/>
          </a:xfrm>
        </p:spPr>
        <p:txBody>
          <a:bodyPr/>
          <a:lstStyle/>
          <a:p>
            <a:pPr algn="ctr"/>
            <a:r>
              <a:rPr lang="en-AU" dirty="0"/>
              <a:t>Intelligent Systems</a:t>
            </a:r>
            <a:br>
              <a:rPr lang="en-AU" dirty="0"/>
            </a:br>
            <a:br>
              <a:rPr lang="en-AU" dirty="0"/>
            </a:br>
            <a:r>
              <a:rPr lang="en-AU" dirty="0"/>
              <a:t>&amp;</a:t>
            </a:r>
            <a:br>
              <a:rPr lang="en-AU" dirty="0"/>
            </a:br>
            <a:br>
              <a:rPr lang="en-AU" dirty="0"/>
            </a:br>
            <a:r>
              <a:rPr lang="en-AU" dirty="0"/>
              <a:t>Intelligent Systems for State &amp; Societal Resilience (ISSSR) Hub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40E0E-2D4A-4F19-BFC7-EA7E60E77A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54750" y="314811"/>
            <a:ext cx="3462290" cy="6288212"/>
          </a:xfrm>
        </p:spPr>
        <p:txBody>
          <a:bodyPr>
            <a:normAutofit fontScale="6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b="1" dirty="0">
                <a:latin typeface="+mn-lt"/>
              </a:rPr>
              <a:t>Best Practice in IT Infrastructure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>
                <a:latin typeface="+mn-lt"/>
              </a:rPr>
              <a:t>Cyber Secure Infrastructure, Environments &amp; Comms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>
                <a:latin typeface="+mn-lt"/>
              </a:rPr>
              <a:t>Data Management – DBs, Warehouses, Cloud/Lakes/Oceans, Federation,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>
                <a:latin typeface="+mn-lt"/>
              </a:rPr>
              <a:t>Adaptive/User-Centric Design</a:t>
            </a:r>
          </a:p>
          <a:p>
            <a:endParaRPr lang="en-AU" sz="1800" dirty="0">
              <a:latin typeface="+mn-lt"/>
            </a:endParaRPr>
          </a:p>
          <a:p>
            <a:pPr algn="ctr"/>
            <a:r>
              <a:rPr lang="en-AU" sz="1800" dirty="0">
                <a:latin typeface="+mn-lt"/>
              </a:rPr>
              <a:t>PLUS</a:t>
            </a:r>
          </a:p>
          <a:p>
            <a:pPr algn="ctr"/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b="1" dirty="0">
                <a:latin typeface="+mn-lt"/>
              </a:rPr>
              <a:t>Productivity &amp; Insight 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>
                <a:latin typeface="+mn-lt"/>
              </a:rPr>
              <a:t>Decision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/>
              <a:t>GIS &amp; Visualisation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>
                <a:latin typeface="+mn-lt"/>
              </a:rPr>
              <a:t>Data Analytics &amp; Modelling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sz="2100" dirty="0">
              <a:latin typeface="+mn-lt"/>
            </a:endParaRPr>
          </a:p>
          <a:p>
            <a:pPr algn="ctr"/>
            <a:r>
              <a:rPr lang="en-AU" sz="1800" dirty="0">
                <a:latin typeface="+mn-lt"/>
              </a:rPr>
              <a:t>PLUS</a:t>
            </a:r>
          </a:p>
          <a:p>
            <a:pPr algn="ctr"/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b="1" dirty="0">
                <a:latin typeface="+mn-lt"/>
              </a:rPr>
              <a:t>Machine-Learning &amp; 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/>
              <a:t>Supervised/Unsupervised Learners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>
                <a:latin typeface="+mn-lt"/>
              </a:rPr>
              <a:t>Multi-Objective Optimisers &amp; Classifiers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100" dirty="0"/>
              <a:t>Large Language Models</a:t>
            </a:r>
            <a:endParaRPr lang="en-AU" sz="21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DEF6453-CD2F-C188-B3C6-2A58F123665E}"/>
              </a:ext>
            </a:extLst>
          </p:cNvPr>
          <p:cNvSpPr txBox="1">
            <a:spLocks/>
          </p:cNvSpPr>
          <p:nvPr/>
        </p:nvSpPr>
        <p:spPr>
          <a:xfrm>
            <a:off x="8072700" y="1478832"/>
            <a:ext cx="4119300" cy="5291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latin typeface="+mn-lt"/>
              </a:rPr>
              <a:t>Nucleus of Software/Data Developers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200" dirty="0">
                <a:latin typeface="+mn-lt"/>
              </a:rPr>
              <a:t>Software Engineers/developers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200" dirty="0">
                <a:latin typeface="+mn-lt"/>
              </a:rPr>
              <a:t>Data Engineers/scientists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sz="1100" dirty="0">
              <a:latin typeface="+mn-lt"/>
            </a:endParaRPr>
          </a:p>
          <a:p>
            <a:pPr algn="ctr"/>
            <a:r>
              <a:rPr lang="en-AU" sz="1100" dirty="0">
                <a:latin typeface="+mn-lt"/>
              </a:rPr>
              <a:t>PLUS</a:t>
            </a:r>
          </a:p>
          <a:p>
            <a:pPr algn="ctr"/>
            <a:endParaRPr lang="en-AU" sz="11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latin typeface="+mn-lt"/>
              </a:rPr>
              <a:t>Wrapping of Innovation 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200" dirty="0">
                <a:latin typeface="+mn-lt"/>
              </a:rPr>
              <a:t>AI &amp; Machine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200" dirty="0">
                <a:latin typeface="+mn-lt"/>
              </a:rPr>
              <a:t>Data Analytics &amp; User Experience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sz="1100" dirty="0">
              <a:latin typeface="+mn-lt"/>
            </a:endParaRPr>
          </a:p>
          <a:p>
            <a:pPr algn="ctr"/>
            <a:r>
              <a:rPr lang="en-AU" sz="1100" dirty="0">
                <a:latin typeface="+mn-lt"/>
              </a:rPr>
              <a:t>PLUS</a:t>
            </a:r>
          </a:p>
          <a:p>
            <a:pPr algn="ctr"/>
            <a:endParaRPr lang="en-AU" sz="11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latin typeface="+mn-lt"/>
              </a:rPr>
              <a:t>Guided by Dev/Policy Expert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200" dirty="0">
                <a:latin typeface="+mn-lt"/>
              </a:rPr>
              <a:t>Subject Matter Experts</a:t>
            </a:r>
          </a:p>
          <a:p>
            <a:endParaRPr lang="en-AU" sz="105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latin typeface="+mn-lt"/>
              </a:rPr>
              <a:t>In Service to Partnering Organisation’s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05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latin typeface="+mn-lt"/>
              </a:rPr>
              <a:t>Adhering to UNSW’s</a:t>
            </a:r>
          </a:p>
          <a:p>
            <a:r>
              <a:rPr lang="en-AU" sz="1600" i="1" dirty="0">
                <a:latin typeface="+mn-lt"/>
              </a:rPr>
              <a:t>	“Progress for All”</a:t>
            </a:r>
            <a:endParaRPr lang="en-AU" sz="1200" i="1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pic>
        <p:nvPicPr>
          <p:cNvPr id="8" name="Picture 7" descr="A digital illustration of a machine&#10;&#10;AI-generated content may be incorrect.">
            <a:extLst>
              <a:ext uri="{FF2B5EF4-FFF2-40B4-BE49-F238E27FC236}">
                <a16:creationId xmlns:a16="http://schemas.microsoft.com/office/drawing/2014/main" id="{4EC912A7-58BC-2AE4-D28C-7F4EAF717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9045"/>
            <a:ext cx="3938955" cy="3938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D473F5-E2B0-ED4B-6FCB-AF1AEA2F7C8C}"/>
              </a:ext>
            </a:extLst>
          </p:cNvPr>
          <p:cNvSpPr txBox="1"/>
          <p:nvPr/>
        </p:nvSpPr>
        <p:spPr>
          <a:xfrm>
            <a:off x="4197838" y="324670"/>
            <a:ext cx="3190246" cy="1154162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1400" b="1" u="sng" dirty="0"/>
              <a:t>Intelligent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Integrated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Bespoke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User-centric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Smart/Supportive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APPROPRIATE</a:t>
            </a:r>
            <a:endParaRPr lang="en-AU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7E9A2-DF3B-2366-EDC3-046BA4512B79}"/>
              </a:ext>
            </a:extLst>
          </p:cNvPr>
          <p:cNvSpPr txBox="1"/>
          <p:nvPr/>
        </p:nvSpPr>
        <p:spPr>
          <a:xfrm>
            <a:off x="8072700" y="314811"/>
            <a:ext cx="3190247" cy="1154162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1400" b="1" u="sng" dirty="0"/>
              <a:t>ISSSR 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Codesign &amp; localisation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Social Engagement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Networks 4 Collective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Partnership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100" b="1" dirty="0"/>
              <a:t>Technology for Agency &amp; Empowerment</a:t>
            </a:r>
          </a:p>
        </p:txBody>
      </p:sp>
    </p:spTree>
    <p:extLst>
      <p:ext uri="{BB962C8B-B14F-4D97-AF65-F5344CB8AC3E}">
        <p14:creationId xmlns:p14="http://schemas.microsoft.com/office/powerpoint/2010/main" val="72340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f24775-56bc-4d7a-8b7a-91e678a71a87" xsi:nil="true"/>
    <lcf76f155ced4ddcb4097134ff3c332f xmlns="a48839d0-6f08-40e0-8a46-600a4c510f8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0D4CDCE6E17241A0909924CA3D6244" ma:contentTypeVersion="14" ma:contentTypeDescription="Create a new document." ma:contentTypeScope="" ma:versionID="878d6b163dbad5c31b86752851491334">
  <xsd:schema xmlns:xsd="http://www.w3.org/2001/XMLSchema" xmlns:xs="http://www.w3.org/2001/XMLSchema" xmlns:p="http://schemas.microsoft.com/office/2006/metadata/properties" xmlns:ns2="a48839d0-6f08-40e0-8a46-600a4c510f86" xmlns:ns3="09f24775-56bc-4d7a-8b7a-91e678a71a87" targetNamespace="http://schemas.microsoft.com/office/2006/metadata/properties" ma:root="true" ma:fieldsID="6d4f75f0b2af4f369cf3ed06fb3a56e8" ns2:_="" ns3:_="">
    <xsd:import namespace="a48839d0-6f08-40e0-8a46-600a4c510f86"/>
    <xsd:import namespace="09f24775-56bc-4d7a-8b7a-91e678a71a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839d0-6f08-40e0-8a46-600a4c510f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4775-56bc-4d7a-8b7a-91e678a71a8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88a2a5b-ad0e-4ce3-9a43-440535f79c8a}" ma:internalName="TaxCatchAll" ma:showField="CatchAllData" ma:web="09f24775-56bc-4d7a-8b7a-91e678a71a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1F17B2-74DD-4E11-A53E-0F4D034E10E8}">
  <ds:schemaRefs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09f24775-56bc-4d7a-8b7a-91e678a71a87"/>
    <ds:schemaRef ds:uri="http://schemas.microsoft.com/office/infopath/2007/PartnerControls"/>
    <ds:schemaRef ds:uri="http://purl.org/dc/elements/1.1/"/>
    <ds:schemaRef ds:uri="a48839d0-6f08-40e0-8a46-600a4c510f8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58399E5-F69B-45AE-BA07-71943BA693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58F831-65A5-4F47-A42F-EFDA7E27F4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8839d0-6f08-40e0-8a46-600a4c510f86"/>
    <ds:schemaRef ds:uri="09f24775-56bc-4d7a-8b7a-91e678a71a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318</Words>
  <Application>Microsoft Office PowerPoint</Application>
  <PresentationFormat>Widescreen</PresentationFormat>
  <Paragraphs>114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Clancy</vt:lpstr>
      <vt:lpstr>Roboto Light</vt:lpstr>
      <vt:lpstr>Roboto Mono</vt:lpstr>
      <vt:lpstr>Office Theme</vt:lpstr>
      <vt:lpstr>Intelligent Systems  &amp;  Intelligent Systems for State &amp; Societal Resilience (ISSSR) Hub</vt:lpstr>
      <vt:lpstr>Intelligent Systems  &amp;  Intelligent Systems for State &amp; Societal Resilience (ISSSR) 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Barlow</dc:creator>
  <cp:lastModifiedBy>Steve hogg</cp:lastModifiedBy>
  <cp:revision>2</cp:revision>
  <dcterms:created xsi:type="dcterms:W3CDTF">2025-04-29T10:12:31Z</dcterms:created>
  <dcterms:modified xsi:type="dcterms:W3CDTF">2025-04-29T19:34:13Z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0x010100170D4CDCE6E17241A0909924CA3D6244</vt:lpwstr>
  </property>
  <property fmtid="{D5CDD505-2E9C-101B-9397-08002B2CF9AE}" pid="3" name="MediaServiceImageTags">
    <vt:lpwstr/>
  </property>
</Properties>
</file>